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Actual</c:v>
          </c:tx>
          <c:spPr>
            <a:ln w="28575">
              <a:solidFill>
                <a:srgbClr val="526D78"/>
              </a:solidFill>
              <a:prstDash val="solid"/>
            </a:ln>
          </c:spPr>
          <c:marker>
            <c:symbol val="none"/>
          </c:marker>
          <c:cat>
            <c:strRef>
              <c:f>'Chart Data'!$A$2:$A$10</c:f>
              <c:strCache>
                <c:ptCount val="9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</c:strCache>
            </c:strRef>
          </c:cat>
          <c:val>
            <c:numRef>
              <c:f>'Chart Data'!$B$2:$B$10</c:f>
              <c:numCache>
                <c:formatCode>#,##0</c:formatCode>
                <c:ptCount val="9"/>
                <c:pt idx="0">
                  <c:v>620</c:v>
                </c:pt>
                <c:pt idx="1">
                  <c:v>680</c:v>
                </c:pt>
                <c:pt idx="2">
                  <c:v>655</c:v>
                </c:pt>
                <c:pt idx="3">
                  <c:v>720</c:v>
                </c:pt>
                <c:pt idx="4">
                  <c:v>760</c:v>
                </c:pt>
                <c:pt idx="5">
                  <c:v>735</c:v>
                </c:pt>
                <c:pt idx="6">
                  <c:v>735</c:v>
                </c:pt>
                <c:pt idx="7">
                  <c:v>735</c:v>
                </c:pt>
                <c:pt idx="8">
                  <c:v>735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AF-3A4B-9997-267BFF756ADC}"/>
            </c:ext>
          </c:extLst>
        </c:ser>
        <c:ser>
          <c:idx val="1"/>
          <c:order val="1"/>
          <c:tx>
            <c:v>Model forecast</c:v>
          </c:tx>
          <c:spPr>
            <a:ln w="28575">
              <a:solidFill>
                <a:srgbClr val="B9303B"/>
              </a:solidFill>
              <a:prstDash val="solid"/>
            </a:ln>
          </c:spPr>
          <c:marker>
            <c:symbol val="none"/>
          </c:marker>
          <c:cat>
            <c:strRef>
              <c:f>'Chart Data'!$C$2:$C$10</c:f>
              <c:strCache>
                <c:ptCount val="9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</c:strCache>
            </c:strRef>
          </c:cat>
          <c:val>
            <c:numRef>
              <c:f>'Chart Data'!$D$2:$D$10</c:f>
              <c:numCache>
                <c:formatCode>#,##0</c:formatCode>
                <c:ptCount val="9"/>
                <c:pt idx="0">
                  <c:v>620</c:v>
                </c:pt>
                <c:pt idx="1">
                  <c:v>680</c:v>
                </c:pt>
                <c:pt idx="2">
                  <c:v>655</c:v>
                </c:pt>
                <c:pt idx="3">
                  <c:v>720</c:v>
                </c:pt>
                <c:pt idx="4">
                  <c:v>760</c:v>
                </c:pt>
                <c:pt idx="5">
                  <c:v>735</c:v>
                </c:pt>
                <c:pt idx="6">
                  <c:v>750</c:v>
                </c:pt>
                <c:pt idx="7">
                  <c:v>770</c:v>
                </c:pt>
                <c:pt idx="8">
                  <c:v>792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AF-3A4B-9997-267BFF756ADC}"/>
            </c:ext>
          </c:extLst>
        </c:ser>
        <c:ser>
          <c:idx val="2"/>
          <c:order val="2"/>
          <c:tx>
            <c:v>Planning scenario</c:v>
          </c:tx>
          <c:spPr>
            <a:ln w="19050">
              <a:solidFill>
                <a:srgbClr val="DF2636"/>
              </a:solidFill>
              <a:prstDash val="solid"/>
            </a:ln>
          </c:spPr>
          <c:marker>
            <c:symbol val="none"/>
          </c:marker>
          <c:cat>
            <c:strRef>
              <c:f>'Chart Data'!$E$2:$E$10</c:f>
              <c:strCache>
                <c:ptCount val="9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</c:strCache>
            </c:strRef>
          </c:cat>
          <c:val>
            <c:numRef>
              <c:f>'Chart Data'!$F$2:$F$10</c:f>
              <c:numCache>
                <c:formatCode>#,##0</c:formatCode>
                <c:ptCount val="9"/>
                <c:pt idx="0">
                  <c:v>620</c:v>
                </c:pt>
                <c:pt idx="1">
                  <c:v>680</c:v>
                </c:pt>
                <c:pt idx="2">
                  <c:v>655</c:v>
                </c:pt>
                <c:pt idx="3">
                  <c:v>720</c:v>
                </c:pt>
                <c:pt idx="4">
                  <c:v>760</c:v>
                </c:pt>
                <c:pt idx="5">
                  <c:v>735</c:v>
                </c:pt>
                <c:pt idx="6">
                  <c:v>790</c:v>
                </c:pt>
                <c:pt idx="7">
                  <c:v>830</c:v>
                </c:pt>
                <c:pt idx="8">
                  <c:v>860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3AF-3A4B-9997-267BFF756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1E6E9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6E9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Helvetica Neue"/>
              <a:ea typeface="Helvetica Neue"/>
              <a:cs typeface="Helvetica Neue"/>
            </a:defRPr>
          </a:pPr>
          <a:endParaRPr lang="en-DE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E1E6E9"/>
      </a:solidFill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Held-out accuracy</c:v>
          </c:tx>
          <c:spPr>
            <a:solidFill>
              <a:srgbClr val="B9303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202529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Ensemble</c:v>
                </c:pt>
                <c:pt idx="1">
                  <c:v>LSTM</c:v>
                </c:pt>
                <c:pt idx="2">
                  <c:v>Random Forest</c:v>
                </c:pt>
                <c:pt idx="3">
                  <c:v>SARIMA</c:v>
                </c:pt>
                <c:pt idx="4">
                  <c:v>Trend</c:v>
                </c:pt>
                <c:pt idx="5">
                  <c:v>XGBoost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85.2</c:v>
                </c:pt>
                <c:pt idx="1">
                  <c:v>86.4</c:v>
                </c:pt>
                <c:pt idx="2">
                  <c:v>84.4</c:v>
                </c:pt>
                <c:pt idx="3">
                  <c:v>83.5</c:v>
                </c:pt>
                <c:pt idx="4">
                  <c:v>78.7</c:v>
                </c:pt>
                <c:pt idx="5">
                  <c:v>75.900000000000006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20-EC4F-B421-C2CB85BAB0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1E6E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1E6E9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E1E6E9"/>
      </a:solidFill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Units</c:v>
          </c:tx>
          <c:spPr>
            <a:solidFill>
              <a:srgbClr val="B9303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202529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Target stock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544</c:v>
                </c:pt>
                <c:pt idx="1">
                  <c:v>552</c:v>
                </c:pt>
                <c:pt idx="2">
                  <c:v>2199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01-4E48-A2E0-384AD624E2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6E9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E1E6E9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slide. The platform connects verified Mitsubishi sales history, model evidence, demand classification, and lead-time inventory decisions in one planning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Navigation map for the finished dashboard. The five cards correspond to the implemented frontend sections: Forecast workspace, Model performance, Demand classifier, Lead-time inventory, and Data &amp;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to use the Forecast workspace: choose the business slice, select the time grain, adjust the horizon, then interpret actuals, model forecast, scenario, range, and accuracy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live forecast verification on the repaired SQL snapshot. Trend 78.7%, SARIMA 83.5%, Random Forest 84.4%, LSTM 86.4%, XGBoost 75.9%, Ensemble 85.2%.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implemented forecast dashboard behavior and validation protocol. Scenario fit is calculated separately from held-out model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local NN rev9 and Tabular Transformer rev8 diagnostics trained against the repaired SQL fingerprint. NN held-out accuracy 96.92%; TR held-out accuracy 89.61%.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DATA ORIGINAL + MERGED FILE workbooks, repaired MySQL snapshot, and the verified Mitsubishi source lineage audit. The Data &amp; coverage view is the provenance check before a forecast is interpreted.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backend/app/services/inventory_planning.py and the live lead-time inventory endpoint. The planner uses 70% trailing three-month demand and 30% trailing twelve-month demand, then adds safety stock and lead-time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CSV import service, mapping persistence, forecast registry, and dashboard workflow implemented in this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slide. The completed platform brings together the five dashboard sections into a single, explainable sales and replenishment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0" y="495300"/>
            <a:ext cx="3048000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5281B-8E68-41E9-8517-CDFDE7B93F78}"/>
              </a:ext>
            </a:extLst>
          </p:cNvPr>
          <p:cNvSpPr>
            <a:spLocks noGrp="1"/>
          </p:cNvSpPr>
          <p:nvPr/>
        </p:nvSpPr>
        <p:spPr>
          <a:xfrm>
            <a:off x="4476750" y="34861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lnSpc>
                <a:spcPct val="115000"/>
              </a:lnSpc>
              <a:buNone/>
              <a:defRPr sz="1275" b="0" i="1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Changes for the Better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931134D-40F9-4B8A-94AC-6B7E9ABBFBD2}"/>
              </a:ext>
            </a:extLst>
          </p:cNvPr>
          <p:cNvSpPr>
            <a:spLocks noGrp="1"/>
          </p:cNvSpPr>
          <p:nvPr/>
        </p:nvSpPr>
        <p:spPr>
          <a:xfrm>
            <a:off x="3429000" y="4000500"/>
            <a:ext cx="53340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54E98-CEA0-4568-8741-83CBCA67BE57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lnSpc>
                <a:spcPct val="115000"/>
              </a:lnSpc>
              <a:buNone/>
              <a:defRPr sz="90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15DB4C-4B95-4C73-A8D9-E653FDF40E6B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774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1A40E6C-90EC-4DDE-8CDA-5EABCE03084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SALES INTELLIGENCE 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9ABFC3-357A-4ABE-AA93-17C1696FECB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Five completed sections, one planning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DF8CDB-E225-4EAD-9014-A1C75D78B46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Use the workspace from left to right: establish the source, understand expected demand, then decide where attention and inventory should go.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A02C081-52C8-468F-A29F-5F97E8D2FD7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906CE-9E30-4A50-A830-626B5377D04F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EF0F7-09CF-46BD-B1AD-C8B0F06ECFBD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7D0B44-A44D-4F76-A3B4-1AA4564B77E2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3337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B3297-F551-490D-8FA6-7B71C59CED99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B545A0-1430-479D-B087-8C24B849B8EA}"/>
              </a:ext>
            </a:extLst>
          </p:cNvPr>
          <p:cNvSpPr>
            <a:spLocks noGrp="1"/>
          </p:cNvSpPr>
          <p:nvPr/>
        </p:nvSpPr>
        <p:spPr>
          <a:xfrm>
            <a:off x="1295400" y="2495550"/>
            <a:ext cx="245745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Forecast workspace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1E521-C434-4359-9347-432B89447E81}"/>
              </a:ext>
            </a:extLst>
          </p:cNvPr>
          <p:cNvSpPr>
            <a:spLocks noGrp="1"/>
          </p:cNvSpPr>
          <p:nvPr/>
        </p:nvSpPr>
        <p:spPr>
          <a:xfrm>
            <a:off x="1295400" y="2886075"/>
            <a:ext cx="24193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Set scope, granularity, and horizon. Compare actuals, forecast, bands, and scenario.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160292-A628-442E-B2C9-C50790706895}"/>
              </a:ext>
            </a:extLst>
          </p:cNvPr>
          <p:cNvSpPr>
            <a:spLocks noGrp="1"/>
          </p:cNvSpPr>
          <p:nvPr/>
        </p:nvSpPr>
        <p:spPr>
          <a:xfrm>
            <a:off x="4362450" y="2266950"/>
            <a:ext cx="33337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2E718-EE55-4A4C-B9BC-4C45D3AF29CF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≋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E0E8F-2DD6-4E87-AFD9-97C5CF05152B}"/>
              </a:ext>
            </a:extLst>
          </p:cNvPr>
          <p:cNvSpPr>
            <a:spLocks noGrp="1"/>
          </p:cNvSpPr>
          <p:nvPr/>
        </p:nvSpPr>
        <p:spPr>
          <a:xfrm>
            <a:off x="5048250" y="2495550"/>
            <a:ext cx="245745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Model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EF5726-4498-4447-A621-E4DC569DE11C}"/>
              </a:ext>
            </a:extLst>
          </p:cNvPr>
          <p:cNvSpPr>
            <a:spLocks noGrp="1"/>
          </p:cNvSpPr>
          <p:nvPr/>
        </p:nvSpPr>
        <p:spPr>
          <a:xfrm>
            <a:off x="5048250" y="2886075"/>
            <a:ext cx="24193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Compare six forecast engines using held-out validation and repeatable SQL fingerprints.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81DDB4-806F-4796-8C0F-4C90951537EA}"/>
              </a:ext>
            </a:extLst>
          </p:cNvPr>
          <p:cNvSpPr>
            <a:spLocks noGrp="1"/>
          </p:cNvSpPr>
          <p:nvPr/>
        </p:nvSpPr>
        <p:spPr>
          <a:xfrm>
            <a:off x="8115300" y="2266950"/>
            <a:ext cx="33337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2F402-898A-43F7-9C5B-622631C87026}"/>
              </a:ext>
            </a:extLst>
          </p:cNvPr>
          <p:cNvSpPr>
            <a:spLocks noGrp="1"/>
          </p:cNvSpPr>
          <p:nvPr/>
        </p:nvSpPr>
        <p:spPr>
          <a:xfrm>
            <a:off x="8324850" y="24765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rPr>
              <a:t>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458B0-2841-467E-ABAF-ADCFB081B760}"/>
              </a:ext>
            </a:extLst>
          </p:cNvPr>
          <p:cNvSpPr>
            <a:spLocks noGrp="1"/>
          </p:cNvSpPr>
          <p:nvPr/>
        </p:nvSpPr>
        <p:spPr>
          <a:xfrm>
            <a:off x="8801100" y="2495550"/>
            <a:ext cx="245745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Demand classifier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69FD17-4548-439D-AE5F-20DFEF1738FC}"/>
              </a:ext>
            </a:extLst>
          </p:cNvPr>
          <p:cNvSpPr>
            <a:spLocks noGrp="1"/>
          </p:cNvSpPr>
          <p:nvPr/>
        </p:nvSpPr>
        <p:spPr>
          <a:xfrm>
            <a:off x="8801100" y="2886075"/>
            <a:ext cx="24193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Prioritize high-demand and sold / not-sold item signals from the September models.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EEECB9-4297-4C29-9797-506733C8D8AC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9530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EAF064-1726-4C0F-B4F3-A0149A39814F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◷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27294C-E34D-4524-BC2C-9D052765E297}"/>
              </a:ext>
            </a:extLst>
          </p:cNvPr>
          <p:cNvSpPr>
            <a:spLocks noGrp="1"/>
          </p:cNvSpPr>
          <p:nvPr/>
        </p:nvSpPr>
        <p:spPr>
          <a:xfrm>
            <a:off x="1295400" y="4476750"/>
            <a:ext cx="40767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Lead-time inventory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65F4B0-511B-4094-BC4E-A56FD0F77D66}"/>
              </a:ext>
            </a:extLst>
          </p:cNvPr>
          <p:cNvSpPr>
            <a:spLocks noGrp="1"/>
          </p:cNvSpPr>
          <p:nvPr/>
        </p:nvSpPr>
        <p:spPr>
          <a:xfrm>
            <a:off x="1295400" y="4867275"/>
            <a:ext cx="40386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Turn run rate, supplier lead time, and on-hand into reorder and arrival decisions.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78BE67-AB43-4CD1-BE92-55F6F6A04D79}"/>
              </a:ext>
            </a:extLst>
          </p:cNvPr>
          <p:cNvSpPr>
            <a:spLocks noGrp="1"/>
          </p:cNvSpPr>
          <p:nvPr/>
        </p:nvSpPr>
        <p:spPr>
          <a:xfrm>
            <a:off x="6629400" y="4248150"/>
            <a:ext cx="49530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99A61-DF0A-41A0-981B-E8793BBD65D3}"/>
              </a:ext>
            </a:extLst>
          </p:cNvPr>
          <p:cNvSpPr>
            <a:spLocks noGrp="1"/>
          </p:cNvSpPr>
          <p:nvPr/>
        </p:nvSpPr>
        <p:spPr>
          <a:xfrm>
            <a:off x="6838950" y="44577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8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▤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A1C3E0-469D-4576-AA78-DAEB018216C3}"/>
              </a:ext>
            </a:extLst>
          </p:cNvPr>
          <p:cNvSpPr>
            <a:spLocks noGrp="1"/>
          </p:cNvSpPr>
          <p:nvPr/>
        </p:nvSpPr>
        <p:spPr>
          <a:xfrm>
            <a:off x="7315200" y="4476750"/>
            <a:ext cx="40767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Data &amp; coverage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72CB1B-6A7A-45C7-9257-171214BB525A}"/>
              </a:ext>
            </a:extLst>
          </p:cNvPr>
          <p:cNvSpPr>
            <a:spLocks noGrp="1"/>
          </p:cNvSpPr>
          <p:nvPr/>
        </p:nvSpPr>
        <p:spPr>
          <a:xfrm>
            <a:off x="7315200" y="4867275"/>
            <a:ext cx="40386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Trace results to original workbooks, SQL tables, coverage windows, and quality flags.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40E1CE-62E7-4193-9DE1-F22B61B02B76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Start with Data &amp; coverage when you need provenance; start with Forecast workspace when you need an answer for a specific slice of the business.</a:t>
            </a:r>
          </a:p>
        </p:txBody>
      </p:sp>
    </p:spTree>
    <p:extLst>
      <p:ext uri="{BB962C8B-B14F-4D97-AF65-F5344CB8AC3E}">
        <p14:creationId xmlns:p14="http://schemas.microsoft.com/office/powerpoint/2010/main" val="169233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1790A43-AACA-4883-B2DB-7147E91DC1A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FORECAST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024907-9A26-466F-8336-DA2238E7421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Start with the question you need to answer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B6E9B-9715-49FA-A034-3DB456A2F39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workspace lets a planner move from a broad business slice to a specific item, customer, vendor, or industry view.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FE8A9B2-581D-48CE-A642-3B80D28B042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09827-DE12-445B-8E53-AAFAD47EDFC9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5F427-1616-46E7-BBD3-2C304F9130DB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552450" y="2152650"/>
          <a:ext cx="67627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706C3D-6129-473E-AB19-BBD332F9D764}"/>
              </a:ext>
            </a:extLst>
          </p:cNvPr>
          <p:cNvSpPr>
            <a:spLocks noGrp="1"/>
          </p:cNvSpPr>
          <p:nvPr/>
        </p:nvSpPr>
        <p:spPr>
          <a:xfrm>
            <a:off x="7848600" y="2038350"/>
            <a:ext cx="35242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E41B8-81AC-47E1-A813-5D5D3A060C04}"/>
              </a:ext>
            </a:extLst>
          </p:cNvPr>
          <p:cNvSpPr>
            <a:spLocks noGrp="1"/>
          </p:cNvSpPr>
          <p:nvPr/>
        </p:nvSpPr>
        <p:spPr>
          <a:xfrm>
            <a:off x="8058150" y="21907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6E1D4-A8F1-4B78-BEA4-0D802B67A5C6}"/>
              </a:ext>
            </a:extLst>
          </p:cNvPr>
          <p:cNvSpPr>
            <a:spLocks noGrp="1"/>
          </p:cNvSpPr>
          <p:nvPr/>
        </p:nvSpPr>
        <p:spPr>
          <a:xfrm>
            <a:off x="8496300" y="217170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04DC49-76AE-4D5A-8EA9-26A99228D719}"/>
              </a:ext>
            </a:extLst>
          </p:cNvPr>
          <p:cNvSpPr>
            <a:spLocks noGrp="1"/>
          </p:cNvSpPr>
          <p:nvPr/>
        </p:nvSpPr>
        <p:spPr>
          <a:xfrm>
            <a:off x="8496300" y="2419350"/>
            <a:ext cx="260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Filter by item, customer, vendor, industry, or the full portfolio.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6E2572-3602-49DA-AF0C-63790E64F211}"/>
              </a:ext>
            </a:extLst>
          </p:cNvPr>
          <p:cNvSpPr>
            <a:spLocks noGrp="1"/>
          </p:cNvSpPr>
          <p:nvPr/>
        </p:nvSpPr>
        <p:spPr>
          <a:xfrm>
            <a:off x="7848600" y="2933700"/>
            <a:ext cx="35242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35D45-CF9F-4F54-AB53-8E9E27C913FF}"/>
              </a:ext>
            </a:extLst>
          </p:cNvPr>
          <p:cNvSpPr>
            <a:spLocks noGrp="1"/>
          </p:cNvSpPr>
          <p:nvPr/>
        </p:nvSpPr>
        <p:spPr>
          <a:xfrm>
            <a:off x="8058150" y="30861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891CC9-D1AB-4110-B4BA-04790CF195A1}"/>
              </a:ext>
            </a:extLst>
          </p:cNvPr>
          <p:cNvSpPr>
            <a:spLocks noGrp="1"/>
          </p:cNvSpPr>
          <p:nvPr/>
        </p:nvSpPr>
        <p:spPr>
          <a:xfrm>
            <a:off x="8496300" y="306705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Choose the grain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244FA5-10DF-4D98-AF18-F6933C900A41}"/>
              </a:ext>
            </a:extLst>
          </p:cNvPr>
          <p:cNvSpPr>
            <a:spLocks noGrp="1"/>
          </p:cNvSpPr>
          <p:nvPr/>
        </p:nvSpPr>
        <p:spPr>
          <a:xfrm>
            <a:off x="8496300" y="3314700"/>
            <a:ext cx="260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Switch between daily, weekly, monthly, and yearly views.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027FE0-1626-4015-8503-182F7DDA4C3C}"/>
              </a:ext>
            </a:extLst>
          </p:cNvPr>
          <p:cNvSpPr>
            <a:spLocks noGrp="1"/>
          </p:cNvSpPr>
          <p:nvPr/>
        </p:nvSpPr>
        <p:spPr>
          <a:xfrm>
            <a:off x="7848600" y="3829050"/>
            <a:ext cx="3524250" cy="781050"/>
          </a:xfrm>
          <a:prstGeom prst="roundRect">
            <a:avLst>
              <a:gd name="adj" fmla="val 12195"/>
            </a:avLst>
          </a:prstGeom>
          <a:solidFill>
            <a:srgbClr val="FAEDEE"/>
          </a:solidFill>
          <a:ln w="9525">
            <a:solidFill>
              <a:srgbClr val="FAED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78128-6282-44D7-85A5-3E428D77F5B6}"/>
              </a:ext>
            </a:extLst>
          </p:cNvPr>
          <p:cNvSpPr>
            <a:spLocks noGrp="1"/>
          </p:cNvSpPr>
          <p:nvPr/>
        </p:nvSpPr>
        <p:spPr>
          <a:xfrm>
            <a:off x="8058150" y="39814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7ADB8-51DF-4EF9-BE56-2C796E89AB06}"/>
              </a:ext>
            </a:extLst>
          </p:cNvPr>
          <p:cNvSpPr>
            <a:spLocks noGrp="1"/>
          </p:cNvSpPr>
          <p:nvPr/>
        </p:nvSpPr>
        <p:spPr>
          <a:xfrm>
            <a:off x="8496300" y="396240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Adjust the horizon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0DB5A-2759-4EF2-AF18-A408E5E22803}"/>
              </a:ext>
            </a:extLst>
          </p:cNvPr>
          <p:cNvSpPr>
            <a:spLocks noGrp="1"/>
          </p:cNvSpPr>
          <p:nvPr/>
        </p:nvSpPr>
        <p:spPr>
          <a:xfrm>
            <a:off x="8496300" y="4210050"/>
            <a:ext cx="260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Extend future periods or drag a point to test a higher or lower scenario.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A779AE-FB3B-455F-BC60-C709D6A06471}"/>
              </a:ext>
            </a:extLst>
          </p:cNvPr>
          <p:cNvSpPr>
            <a:spLocks noGrp="1"/>
          </p:cNvSpPr>
          <p:nvPr/>
        </p:nvSpPr>
        <p:spPr>
          <a:xfrm>
            <a:off x="7848600" y="4724400"/>
            <a:ext cx="35242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716790-4E16-48CB-936D-9EE934242DD5}"/>
              </a:ext>
            </a:extLst>
          </p:cNvPr>
          <p:cNvSpPr>
            <a:spLocks noGrp="1"/>
          </p:cNvSpPr>
          <p:nvPr/>
        </p:nvSpPr>
        <p:spPr>
          <a:xfrm>
            <a:off x="8058150" y="48768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6DAC46-3F91-4747-8800-55C15FAC27C2}"/>
              </a:ext>
            </a:extLst>
          </p:cNvPr>
          <p:cNvSpPr>
            <a:spLocks noGrp="1"/>
          </p:cNvSpPr>
          <p:nvPr/>
        </p:nvSpPr>
        <p:spPr>
          <a:xfrm>
            <a:off x="8496300" y="485775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Read the evidence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363BAE-8D9C-49CD-BF4B-ED76088B6D91}"/>
              </a:ext>
            </a:extLst>
          </p:cNvPr>
          <p:cNvSpPr>
            <a:spLocks noGrp="1"/>
          </p:cNvSpPr>
          <p:nvPr/>
        </p:nvSpPr>
        <p:spPr>
          <a:xfrm>
            <a:off x="8496300" y="5105400"/>
            <a:ext cx="26098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Review actuals, forecast, range, held-out score, and the last observed period together.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9E6AA5-9D33-445C-88FA-9F2ED672878F}"/>
              </a:ext>
            </a:extLst>
          </p:cNvPr>
          <p:cNvSpPr>
            <a:spLocks noGrp="1"/>
          </p:cNvSpPr>
          <p:nvPr/>
        </p:nvSpPr>
        <p:spPr>
          <a:xfrm>
            <a:off x="552450" y="5676900"/>
            <a:ext cx="83820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Dragging changes the planning scenario; it does not rewrite the measured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41785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A41A240-DA13-4314-B462-D82291AA38FF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MODEL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7D1F6B-03F4-4E1F-97C8-D9CE6E4914E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Evidence before preference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392D85-4A9C-403E-A40E-E86764EE959A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Six forecast engines are compared on chronological held-out validation against the repaired Mitsubishi SQL snapshot.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49FEC3-80B3-4B27-8B73-18BA8F303ED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0B514-8621-4FBE-B528-DB22F00C9595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D6B88-2098-45F0-87D5-FF20A123EBF9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571500" y="2019300"/>
          <a:ext cx="6191250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418A338-D6AC-42AF-B335-E2D08932D531}"/>
              </a:ext>
            </a:extLst>
          </p:cNvPr>
          <p:cNvSpPr>
            <a:spLocks noGrp="1"/>
          </p:cNvSpPr>
          <p:nvPr/>
        </p:nvSpPr>
        <p:spPr>
          <a:xfrm>
            <a:off x="7334250" y="2133600"/>
            <a:ext cx="3943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D702B-94DF-4BBF-89F7-6876D3F8D583}"/>
              </a:ext>
            </a:extLst>
          </p:cNvPr>
          <p:cNvSpPr>
            <a:spLocks noGrp="1"/>
          </p:cNvSpPr>
          <p:nvPr/>
        </p:nvSpPr>
        <p:spPr>
          <a:xfrm>
            <a:off x="7581900" y="236220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Validation protocol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80EA32-2488-4D99-9819-50A47DCD7751}"/>
              </a:ext>
            </a:extLst>
          </p:cNvPr>
          <p:cNvSpPr>
            <a:spLocks noGrp="1"/>
          </p:cNvSpPr>
          <p:nvPr/>
        </p:nvSpPr>
        <p:spPr>
          <a:xfrm>
            <a:off x="7581900" y="2724150"/>
            <a:ext cx="323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Two expanding windows with held-out months. Accuracy = max(0, 100 − WAPE). The same SQL fingerprint and model code reproduce the same score.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49263F-EA30-4E05-B60C-6EAD3ADF57A3}"/>
              </a:ext>
            </a:extLst>
          </p:cNvPr>
          <p:cNvSpPr>
            <a:spLocks noGrp="1"/>
          </p:cNvSpPr>
          <p:nvPr/>
        </p:nvSpPr>
        <p:spPr>
          <a:xfrm>
            <a:off x="7334250" y="3752850"/>
            <a:ext cx="3943350" cy="1390650"/>
          </a:xfrm>
          <a:prstGeom prst="roundRect">
            <a:avLst>
              <a:gd name="adj" fmla="val 8219"/>
            </a:avLst>
          </a:prstGeom>
          <a:solidFill>
            <a:srgbClr val="FAEDEE"/>
          </a:solidFill>
          <a:ln w="9525">
            <a:solidFill>
              <a:srgbClr val="FAEDE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89180A-F092-4000-AFCE-22EAA850FE75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Ensemble behavior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CE63DA-D25C-4012-A29F-4002135BB7C3}"/>
              </a:ext>
            </a:extLst>
          </p:cNvPr>
          <p:cNvSpPr>
            <a:spLocks noGrp="1"/>
          </p:cNvSpPr>
          <p:nvPr/>
        </p:nvSpPr>
        <p:spPr>
          <a:xfrm>
            <a:off x="7581900" y="434340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Weights come from chronological validation. Failed members are excluded and remaining weights are renormalized.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FD23A-04ED-41D7-8173-09588D83E54D}"/>
              </a:ext>
            </a:extLst>
          </p:cNvPr>
          <p:cNvSpPr>
            <a:spLocks noGrp="1"/>
          </p:cNvSpPr>
          <p:nvPr/>
        </p:nvSpPr>
        <p:spPr>
          <a:xfrm>
            <a:off x="590550" y="567690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How to use it: compare the score, validation protocol, and model behavior before choosing the view for a planning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20945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DBEDD04-9567-4255-ABA7-3AFA92263576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MODEL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D4218-CDA7-4D3C-BA47-7566D5E84F1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Know what the score means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4C3F5-A959-4E90-8542-DF3F988E4B11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dashboard separates measured accuracy from the assumptions a planner wants to explore.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E33B0D2-0430-4E99-BDBD-69D404E18D5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36E70-F811-4692-9311-3E68088C4456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93F8C8-88B9-4872-BD97-E8DDE3E0BC5F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992AB7-B644-41A2-BB9A-A18CE4E2BEF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Historical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B5D8C1-C83C-430D-8FA4-99F58F75C2D5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Apr 2021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0EFF305-1C50-4341-AAD3-BA92BAFE8F41}"/>
              </a:ext>
            </a:extLst>
          </p:cNvPr>
          <p:cNvSpPr>
            <a:spLocks noGrp="1"/>
          </p:cNvSpPr>
          <p:nvPr/>
        </p:nvSpPr>
        <p:spPr>
          <a:xfrm>
            <a:off x="2000250" y="2657475"/>
            <a:ext cx="2571750" cy="0"/>
          </a:xfrm>
          <a:prstGeom prst="line">
            <a:avLst/>
          </a:prstGeom>
          <a:noFill/>
          <a:ln w="28575">
            <a:solidFill>
              <a:srgbClr val="B9303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AB030-BC58-4E66-8024-7A1DD0BADEFD}"/>
              </a:ext>
            </a:extLst>
          </p:cNvPr>
          <p:cNvSpPr>
            <a:spLocks noGrp="1"/>
          </p:cNvSpPr>
          <p:nvPr/>
        </p:nvSpPr>
        <p:spPr>
          <a:xfrm>
            <a:off x="4762500" y="220980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Walk-forward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50D2-3C4F-44DA-BD62-B006216FEB80}"/>
              </a:ext>
            </a:extLst>
          </p:cNvPr>
          <p:cNvSpPr>
            <a:spLocks noGrp="1"/>
          </p:cNvSpPr>
          <p:nvPr/>
        </p:nvSpPr>
        <p:spPr>
          <a:xfrm>
            <a:off x="4762500" y="25527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fit → hold out → move origin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A2D0996-2C59-4706-A9A7-5413F5537D1D}"/>
              </a:ext>
            </a:extLst>
          </p:cNvPr>
          <p:cNvSpPr>
            <a:spLocks noGrp="1"/>
          </p:cNvSpPr>
          <p:nvPr/>
        </p:nvSpPr>
        <p:spPr>
          <a:xfrm>
            <a:off x="7239000" y="2657475"/>
            <a:ext cx="2667000" cy="0"/>
          </a:xfrm>
          <a:prstGeom prst="line">
            <a:avLst/>
          </a:prstGeom>
          <a:noFill/>
          <a:ln w="28575">
            <a:solidFill>
              <a:srgbClr val="B9303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25A9A7-01BF-4D9E-907B-D8DE2B80D2C8}"/>
              </a:ext>
            </a:extLst>
          </p:cNvPr>
          <p:cNvSpPr>
            <a:spLocks noGrp="1"/>
          </p:cNvSpPr>
          <p:nvPr/>
        </p:nvSpPr>
        <p:spPr>
          <a:xfrm>
            <a:off x="10048875" y="220980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Next forecast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0E5EAD-9749-42AE-9F6C-ABD807E45C21}"/>
              </a:ext>
            </a:extLst>
          </p:cNvPr>
          <p:cNvSpPr>
            <a:spLocks noGrp="1"/>
          </p:cNvSpPr>
          <p:nvPr/>
        </p:nvSpPr>
        <p:spPr>
          <a:xfrm>
            <a:off x="10048875" y="25527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Apr 2025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087B16D-9947-49C2-827B-F8BF32E176CE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36385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E806C5-D649-47FD-83B8-4F39D2F8EF49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Measured model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EA8B4D-1A5E-4613-B694-34060D79E9AF}"/>
              </a:ext>
            </a:extLst>
          </p:cNvPr>
          <p:cNvSpPr>
            <a:spLocks noGrp="1"/>
          </p:cNvSpPr>
          <p:nvPr/>
        </p:nvSpPr>
        <p:spPr>
          <a:xfrm>
            <a:off x="933450" y="39624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27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85.2%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583ACD-17DE-404A-AB5F-969BAD7B2684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27622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Ensemble held-out accuracy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BD9CD5-7FF4-4AC1-921C-B86B47C812D0}"/>
              </a:ext>
            </a:extLst>
          </p:cNvPr>
          <p:cNvSpPr>
            <a:spLocks noGrp="1"/>
          </p:cNvSpPr>
          <p:nvPr/>
        </p:nvSpPr>
        <p:spPr>
          <a:xfrm>
            <a:off x="4591050" y="3390900"/>
            <a:ext cx="3086100" cy="1409700"/>
          </a:xfrm>
          <a:prstGeom prst="roundRect">
            <a:avLst>
              <a:gd name="adj" fmla="val 8108"/>
            </a:avLst>
          </a:prstGeom>
          <a:solidFill>
            <a:srgbClr val="FAEDEE"/>
          </a:solidFill>
          <a:ln w="9525">
            <a:solidFill>
              <a:srgbClr val="FAED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44C4E-E058-4496-808A-ECC24978C9F7}"/>
              </a:ext>
            </a:extLst>
          </p:cNvPr>
          <p:cNvSpPr>
            <a:spLocks noGrp="1"/>
          </p:cNvSpPr>
          <p:nvPr/>
        </p:nvSpPr>
        <p:spPr>
          <a:xfrm>
            <a:off x="4838700" y="36385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Planning scenario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33E53B-0ED1-4A07-A370-C85843516A56}"/>
              </a:ext>
            </a:extLst>
          </p:cNvPr>
          <p:cNvSpPr>
            <a:spLocks noGrp="1"/>
          </p:cNvSpPr>
          <p:nvPr/>
        </p:nvSpPr>
        <p:spPr>
          <a:xfrm>
            <a:off x="4838700" y="4000500"/>
            <a:ext cx="253365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Drag a forecast point or adjust the slider to ask: “What if demand is higher or lower?”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CAF8165-6AAD-41C4-A78A-8D92A50DFD87}"/>
              </a:ext>
            </a:extLst>
          </p:cNvPr>
          <p:cNvSpPr>
            <a:spLocks noGrp="1"/>
          </p:cNvSpPr>
          <p:nvPr/>
        </p:nvSpPr>
        <p:spPr>
          <a:xfrm>
            <a:off x="7943850" y="3390900"/>
            <a:ext cx="35623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15090-A52C-4FBD-9F0B-9C29C479407E}"/>
              </a:ext>
            </a:extLst>
          </p:cNvPr>
          <p:cNvSpPr>
            <a:spLocks noGrp="1"/>
          </p:cNvSpPr>
          <p:nvPr/>
        </p:nvSpPr>
        <p:spPr>
          <a:xfrm>
            <a:off x="8191500" y="36385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What remains fixed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5883F7-C3E4-4039-AFDA-7919D20EDE92}"/>
              </a:ext>
            </a:extLst>
          </p:cNvPr>
          <p:cNvSpPr>
            <a:spLocks noGrp="1"/>
          </p:cNvSpPr>
          <p:nvPr/>
        </p:nvSpPr>
        <p:spPr>
          <a:xfrm>
            <a:off x="8191500" y="4000500"/>
            <a:ext cx="2905125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data fingerprint, held-out months, WAPE, and model accuracy. A page refresh or drag cannot improve the score.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1B8C70-04CB-4E4B-9CCD-E30140A3085F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Use the score for model evidence; use the scenario for a planning conversation. The two values stay visibly separate.</a:t>
            </a:r>
          </a:p>
        </p:txBody>
      </p:sp>
    </p:spTree>
    <p:extLst>
      <p:ext uri="{BB962C8B-B14F-4D97-AF65-F5344CB8AC3E}">
        <p14:creationId xmlns:p14="http://schemas.microsoft.com/office/powerpoint/2010/main" val="1964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00EE5-63DF-4F44-ACE3-5886CA673AD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DEMAND CLASSIFIER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DDA243-2CEF-44D3-972F-7DC35FFE70D8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Prioritize the items that need attention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0A94B0-2A1E-4E20-B51E-B809F08341C5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September models answer item-level classification questions beside the numeric forecast.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A804C46-9291-41B2-8F43-88B3DE198A0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546E3-65A7-42F2-B653-BDD82956A579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EF5129-6E0A-419F-A5D0-96D3691D1292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E445B64-8A0B-44C4-A8EC-308DA6D3209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0" cy="339090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223761-BF24-4DD7-A17E-EAC756C8C946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SEPTEMBER MODEL · REV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7760-1557-4A1A-A3FD-F83FF4003B91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Neural network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223C99-03F1-43BD-8876-23369782B49A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Target: high demand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74F69B-101D-462C-B723-F371771CCDCD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24765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36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96.9%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FCDF7D-D664-4B42-B3DC-FAAD0EC6CD7F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held-out accuracy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5C1C26-7D0E-4C98-AD90-DDAFCAF22825}"/>
              </a:ext>
            </a:extLst>
          </p:cNvPr>
          <p:cNvSpPr>
            <a:spLocks noGrp="1"/>
          </p:cNvSpPr>
          <p:nvPr/>
        </p:nvSpPr>
        <p:spPr>
          <a:xfrm>
            <a:off x="742950" y="4800600"/>
            <a:ext cx="447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Use the high-demand signal to focus review on items that may need earlier attention. Balanced accuracy and the last-month baseline are shown alongside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120469-F59B-49D1-8121-4A0F09C30A09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SEPTEMBER MODEL · REV 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356D19-1039-43F4-A80C-050D032415C8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9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Tabular transformer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95ABF-2842-4AA5-8AE3-F09F9CD839AB}"/>
              </a:ext>
            </a:extLst>
          </p:cNvPr>
          <p:cNvSpPr>
            <a:spLocks noGrp="1"/>
          </p:cNvSpPr>
          <p:nvPr/>
        </p:nvSpPr>
        <p:spPr>
          <a:xfrm>
            <a:off x="6762750" y="30670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Target: sold / not sold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35F4FB-71CC-4323-A951-6870C426DEBF}"/>
              </a:ext>
            </a:extLst>
          </p:cNvPr>
          <p:cNvSpPr>
            <a:spLocks noGrp="1"/>
          </p:cNvSpPr>
          <p:nvPr/>
        </p:nvSpPr>
        <p:spPr>
          <a:xfrm>
            <a:off x="6762750" y="3638550"/>
            <a:ext cx="24765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36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89.6%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D1C91B-E6EC-4B4E-BE70-FF1272CD10ED}"/>
              </a:ext>
            </a:extLst>
          </p:cNvPr>
          <p:cNvSpPr>
            <a:spLocks noGrp="1"/>
          </p:cNvSpPr>
          <p:nvPr/>
        </p:nvSpPr>
        <p:spPr>
          <a:xfrm>
            <a:off x="6781800" y="430530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held-out accuracy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8E87AF-2054-4727-8E5B-FD3722C23E0B}"/>
              </a:ext>
            </a:extLst>
          </p:cNvPr>
          <p:cNvSpPr>
            <a:spLocks noGrp="1"/>
          </p:cNvSpPr>
          <p:nvPr/>
        </p:nvSpPr>
        <p:spPr>
          <a:xfrm>
            <a:off x="6762750" y="48006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Use sold / not-sold probabilities to prioritize item follow-up. Each row is scored per item for the next eligible month.</a:t>
            </a:r>
          </a:p>
        </p:txBody>
      </p:sp>
    </p:spTree>
    <p:extLst>
      <p:ext uri="{BB962C8B-B14F-4D97-AF65-F5344CB8AC3E}">
        <p14:creationId xmlns:p14="http://schemas.microsoft.com/office/powerpoint/2010/main" val="31611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634D25F-E900-4329-95F6-A1C9E9D22933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DATA &amp; COVERAGE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7D220-0D6A-41CB-9403-84BC7CF427C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Trace every result back to Mitsubishi source rows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5A13C3-2AC3-4E52-A370-DEFAB3606A95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platform preserves the original lineage while exposing the clean, canonical view used by forecasts and planning.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BC5CFD9-4E81-4E8C-810D-901BE3C9F40C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1E9DC-AD19-498C-A87F-F9529D96E2ED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BDFDD-9FD8-4659-AC12-DF25CAE27B6A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4EDEE3-A017-44E5-B877-C455EE0AAFE1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20002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72796-7A82-4327-A1CD-A751E8352A57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Customer.xlsx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CE91D8-91F5-4548-82D9-15B84EAED67B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2,159 customers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52BC30-780D-4189-BFB7-E29DA91FCAA6}"/>
              </a:ext>
            </a:extLst>
          </p:cNvPr>
          <p:cNvSpPr>
            <a:spLocks noGrp="1"/>
          </p:cNvSpPr>
          <p:nvPr/>
        </p:nvSpPr>
        <p:spPr>
          <a:xfrm>
            <a:off x="2876550" y="2133600"/>
            <a:ext cx="20002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CC8A5-112F-487F-87A6-D1F3CDC211A2}"/>
              </a:ext>
            </a:extLst>
          </p:cNvPr>
          <p:cNvSpPr>
            <a:spLocks noGrp="1"/>
          </p:cNvSpPr>
          <p:nvPr/>
        </p:nvSpPr>
        <p:spPr>
          <a:xfrm>
            <a:off x="3028950" y="2286000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Item.xlsx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30C28-C377-4169-B9C3-5C249709A485}"/>
              </a:ext>
            </a:extLst>
          </p:cNvPr>
          <p:cNvSpPr>
            <a:spLocks noGrp="1"/>
          </p:cNvSpPr>
          <p:nvPr/>
        </p:nvSpPr>
        <p:spPr>
          <a:xfrm>
            <a:off x="3028950" y="26289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5,706 items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D510B5-ECFC-4180-B49F-98876AA0204F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20002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D52C6F-C97C-4690-8E01-900E792B1DCA}"/>
              </a:ext>
            </a:extLst>
          </p:cNvPr>
          <p:cNvSpPr>
            <a:spLocks noGrp="1"/>
          </p:cNvSpPr>
          <p:nvPr/>
        </p:nvSpPr>
        <p:spPr>
          <a:xfrm>
            <a:off x="5314950" y="2286000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Sale Order History.xlsx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BDBD18-D3E6-4E6A-B87C-558A0999BB38}"/>
              </a:ext>
            </a:extLst>
          </p:cNvPr>
          <p:cNvSpPr>
            <a:spLocks noGrp="1"/>
          </p:cNvSpPr>
          <p:nvPr/>
        </p:nvSpPr>
        <p:spPr>
          <a:xfrm>
            <a:off x="5314950" y="26289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272,000 lines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46AC86C-DD0B-4C04-B3F2-CEB2834E7EF3}"/>
              </a:ext>
            </a:extLst>
          </p:cNvPr>
          <p:cNvSpPr>
            <a:spLocks noGrp="1"/>
          </p:cNvSpPr>
          <p:nvPr/>
        </p:nvSpPr>
        <p:spPr>
          <a:xfrm>
            <a:off x="7353300" y="2590800"/>
            <a:ext cx="704850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3ECE3F-4427-49CC-A1E5-879DF334AB7C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3238500" cy="1104900"/>
          </a:xfrm>
          <a:prstGeom prst="roundRect">
            <a:avLst>
              <a:gd name="adj" fmla="val 10345"/>
            </a:avLst>
          </a:prstGeom>
          <a:solidFill>
            <a:srgbClr val="FAEDEE"/>
          </a:solidFill>
          <a:ln w="9525">
            <a:solidFill>
              <a:srgbClr val="FAEDE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55F185-3323-43FE-8C53-B58D904FF556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RawData_Combined.xlsx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B806E7-202D-40B1-841E-D2EAAD07EC6E}"/>
              </a:ext>
            </a:extLst>
          </p:cNvPr>
          <p:cNvSpPr>
            <a:spLocks noGrp="1"/>
          </p:cNvSpPr>
          <p:nvPr/>
        </p:nvSpPr>
        <p:spPr>
          <a:xfrm>
            <a:off x="8496300" y="2628900"/>
            <a:ext cx="27241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Verified exact sheet copies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BC542E0B-2398-44D8-B978-AA0E1281EB0D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9001125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DE4611-30C8-4C63-B596-1C4D7AB06B99}"/>
              </a:ext>
            </a:extLst>
          </p:cNvPr>
          <p:cNvSpPr>
            <a:spLocks noGrp="1"/>
          </p:cNvSpPr>
          <p:nvPr/>
        </p:nvSpPr>
        <p:spPr>
          <a:xfrm>
            <a:off x="590550" y="36576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3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MySQL operational 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6D839-FF11-48C1-B902-7D7363DE9DE5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Customerfile_Data · Itemfile_Data · Sales_Order_Merged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F7C59-E8D7-44A7-8338-D9A58A29054C}"/>
              </a:ext>
            </a:extLst>
          </p:cNvPr>
          <p:cNvSpPr>
            <a:spLocks noGrp="1"/>
          </p:cNvSpPr>
          <p:nvPr/>
        </p:nvSpPr>
        <p:spPr>
          <a:xfrm>
            <a:off x="590550" y="45910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265,135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4CBE70-FC63-455D-8E5D-4727BC1AB660}"/>
              </a:ext>
            </a:extLst>
          </p:cNvPr>
          <p:cNvSpPr>
            <a:spLocks noGrp="1"/>
          </p:cNvSpPr>
          <p:nvPr/>
        </p:nvSpPr>
        <p:spPr>
          <a:xfrm>
            <a:off x="590550" y="50101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canonical forecast rows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122A26-845C-480B-8837-CCE74E7FF0DF}"/>
              </a:ext>
            </a:extLst>
          </p:cNvPr>
          <p:cNvSpPr>
            <a:spLocks noGrp="1"/>
          </p:cNvSpPr>
          <p:nvPr/>
        </p:nvSpPr>
        <p:spPr>
          <a:xfrm>
            <a:off x="2857500" y="45910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48 months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472D83-D1CA-4FC9-BC4C-2C96438396C9}"/>
              </a:ext>
            </a:extLst>
          </p:cNvPr>
          <p:cNvSpPr>
            <a:spLocks noGrp="1"/>
          </p:cNvSpPr>
          <p:nvPr/>
        </p:nvSpPr>
        <p:spPr>
          <a:xfrm>
            <a:off x="2857500" y="50101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Apr 2021 – Mar 2025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08DA53-24A9-43BB-8CC0-70C4874682D6}"/>
              </a:ext>
            </a:extLst>
          </p:cNvPr>
          <p:cNvSpPr>
            <a:spLocks noGrp="1"/>
          </p:cNvSpPr>
          <p:nvPr/>
        </p:nvSpPr>
        <p:spPr>
          <a:xfrm>
            <a:off x="5143500" y="45910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rPr>
              <a:t>69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2A278C-337E-49EE-AAB1-D06B0DE81963}"/>
              </a:ext>
            </a:extLst>
          </p:cNvPr>
          <p:cNvSpPr>
            <a:spLocks noGrp="1"/>
          </p:cNvSpPr>
          <p:nvPr/>
        </p:nvSpPr>
        <p:spPr>
          <a:xfrm>
            <a:off x="5143500" y="50101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industries represented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03E970-992A-446F-9065-1D4A5A4BEF74}"/>
              </a:ext>
            </a:extLst>
          </p:cNvPr>
          <p:cNvSpPr>
            <a:spLocks noGrp="1"/>
          </p:cNvSpPr>
          <p:nvPr/>
        </p:nvSpPr>
        <p:spPr>
          <a:xfrm>
            <a:off x="7429500" y="45910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21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1,461 days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FF1F05-6E43-4272-ABE9-E4BE840E3F36}"/>
              </a:ext>
            </a:extLst>
          </p:cNvPr>
          <p:cNvSpPr>
            <a:spLocks noGrp="1"/>
          </p:cNvSpPr>
          <p:nvPr/>
        </p:nvSpPr>
        <p:spPr>
          <a:xfrm>
            <a:off x="7429500" y="50101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native daily history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397D01-489B-4F93-86FB-ED3C13C72029}"/>
              </a:ext>
            </a:extLst>
          </p:cNvPr>
          <p:cNvSpPr>
            <a:spLocks noGrp="1"/>
          </p:cNvSpPr>
          <p:nvPr/>
        </p:nvSpPr>
        <p:spPr>
          <a:xfrm>
            <a:off x="590550" y="5657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Quality signals stay visible: 6,865 exact duplicate lines are flagged, 13 items retain missing list prices, and the current Mitsubishi source contains no vendor identifiers.</a:t>
            </a:r>
          </a:p>
        </p:txBody>
      </p:sp>
    </p:spTree>
    <p:extLst>
      <p:ext uri="{BB962C8B-B14F-4D97-AF65-F5344CB8AC3E}">
        <p14:creationId xmlns:p14="http://schemas.microsoft.com/office/powerpoint/2010/main" val="201280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18BB1AA-18DD-4B4B-82CF-10CAAB5363BB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LEAD-TIME INVENTORY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DA85EA-E0C3-41F3-A5D2-08E983F6B39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Turn demand into a replenishment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7DA00-B921-4EE8-ADC9-9D82F4BDCD13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inventory planner connects a demand run rate to the order-by date, reorder point, suggested quantity, and expected arrival.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089CD1C-25F4-48A9-814D-0FF10227B72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05F5B-5F3A-4873-A520-15D891DFE42C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DE68E-90B4-492C-AA51-F13DDD3A9A21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DD7D7E-2388-434A-8DB4-C0E782604ADC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D603F-683A-4D16-A16E-1673B43C9F41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Demand run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10548-46EB-4C24-BB1A-2D68FDC24247}"/>
              </a:ext>
            </a:extLst>
          </p:cNvPr>
          <p:cNvSpPr>
            <a:spLocks noGrp="1"/>
          </p:cNvSpPr>
          <p:nvPr/>
        </p:nvSpPr>
        <p:spPr>
          <a:xfrm>
            <a:off x="704850" y="2876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70% recent 3-month average</a:t>
            </a:r>
          </a:p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30% trailing 12-month average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2CE54FE-7360-436C-BB41-84C8B5E6B382}"/>
              </a:ext>
            </a:extLst>
          </p:cNvPr>
          <p:cNvSpPr>
            <a:spLocks noGrp="1"/>
          </p:cNvSpPr>
          <p:nvPr/>
        </p:nvSpPr>
        <p:spPr>
          <a:xfrm>
            <a:off x="2962275" y="2933700"/>
            <a:ext cx="29527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D6A953-A701-4654-B333-45ED8AC1F4F4}"/>
              </a:ext>
            </a:extLst>
          </p:cNvPr>
          <p:cNvSpPr>
            <a:spLocks noGrp="1"/>
          </p:cNvSpPr>
          <p:nvPr/>
        </p:nvSpPr>
        <p:spPr>
          <a:xfrm>
            <a:off x="3371850" y="23050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59F78-A0B3-489C-931E-656CFEA74D17}"/>
              </a:ext>
            </a:extLst>
          </p:cNvPr>
          <p:cNvSpPr>
            <a:spLocks noGrp="1"/>
          </p:cNvSpPr>
          <p:nvPr/>
        </p:nvSpPr>
        <p:spPr>
          <a:xfrm>
            <a:off x="3543300" y="24955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Lead-time demand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A1A5A-4F91-45CE-B959-D4198844970E}"/>
              </a:ext>
            </a:extLst>
          </p:cNvPr>
          <p:cNvSpPr>
            <a:spLocks noGrp="1"/>
          </p:cNvSpPr>
          <p:nvPr/>
        </p:nvSpPr>
        <p:spPr>
          <a:xfrm>
            <a:off x="3543300" y="2876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Run rate × supplier lead-time days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63E8146-582A-42D4-9AC6-099A595C2876}"/>
              </a:ext>
            </a:extLst>
          </p:cNvPr>
          <p:cNvSpPr>
            <a:spLocks noGrp="1"/>
          </p:cNvSpPr>
          <p:nvPr/>
        </p:nvSpPr>
        <p:spPr>
          <a:xfrm>
            <a:off x="5800725" y="2933700"/>
            <a:ext cx="29527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AE32BA-6011-4962-B204-5FBC19E503C6}"/>
              </a:ext>
            </a:extLst>
          </p:cNvPr>
          <p:cNvSpPr>
            <a:spLocks noGrp="1"/>
          </p:cNvSpPr>
          <p:nvPr/>
        </p:nvSpPr>
        <p:spPr>
          <a:xfrm>
            <a:off x="6210300" y="23050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330D3-9FEF-4E0D-AD47-40E024A440D0}"/>
              </a:ext>
            </a:extLst>
          </p:cNvPr>
          <p:cNvSpPr>
            <a:spLocks noGrp="1"/>
          </p:cNvSpPr>
          <p:nvPr/>
        </p:nvSpPr>
        <p:spPr>
          <a:xfrm>
            <a:off x="6381750" y="24955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rPr>
              <a:t>Reorder point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F501D3-5A83-466F-AA0E-B067BE6FDA62}"/>
              </a:ext>
            </a:extLst>
          </p:cNvPr>
          <p:cNvSpPr>
            <a:spLocks noGrp="1"/>
          </p:cNvSpPr>
          <p:nvPr/>
        </p:nvSpPr>
        <p:spPr>
          <a:xfrm>
            <a:off x="6381750" y="2876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Lead-time demand + safety stock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87373CE-E78E-4DCF-A090-2EDB22EE953B}"/>
              </a:ext>
            </a:extLst>
          </p:cNvPr>
          <p:cNvSpPr>
            <a:spLocks noGrp="1"/>
          </p:cNvSpPr>
          <p:nvPr/>
        </p:nvSpPr>
        <p:spPr>
          <a:xfrm>
            <a:off x="8639175" y="2933700"/>
            <a:ext cx="29527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51531C-E383-410B-A24C-65DF62A6D9C2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897CF2-160E-49E7-A1FB-1F6960A6A7EA}"/>
              </a:ext>
            </a:extLst>
          </p:cNvPr>
          <p:cNvSpPr>
            <a:spLocks noGrp="1"/>
          </p:cNvSpPr>
          <p:nvPr/>
        </p:nvSpPr>
        <p:spPr>
          <a:xfrm>
            <a:off x="9220200" y="24955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Order decision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2A309-2B7D-4D40-AE78-FC04CD8ADE88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Target stock − on hand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="685800" y="4114800"/>
          <a:ext cx="5429250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4BEFB24-8675-44D8-8B9A-3FBBB2048A6D}"/>
              </a:ext>
            </a:extLst>
          </p:cNvPr>
          <p:cNvSpPr>
            <a:spLocks noGrp="1"/>
          </p:cNvSpPr>
          <p:nvPr/>
        </p:nvSpPr>
        <p:spPr>
          <a:xfrm>
            <a:off x="6781800" y="4114800"/>
            <a:ext cx="4572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627D0-D690-4EA3-AD12-39C8CF7523F2}"/>
              </a:ext>
            </a:extLst>
          </p:cNvPr>
          <p:cNvSpPr>
            <a:spLocks noGrp="1"/>
          </p:cNvSpPr>
          <p:nvPr/>
        </p:nvSpPr>
        <p:spPr>
          <a:xfrm>
            <a:off x="7029450" y="4362450"/>
            <a:ext cx="39052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How to use 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2942DB-1A3E-49F1-BC95-11FFDDD1FA22}"/>
              </a:ext>
            </a:extLst>
          </p:cNvPr>
          <p:cNvSpPr>
            <a:spLocks noGrp="1"/>
          </p:cNvSpPr>
          <p:nvPr/>
        </p:nvSpPr>
        <p:spPr>
          <a:xfrm>
            <a:off x="7029450" y="4762500"/>
            <a:ext cx="381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Import on-hand units and supplier lead-time days per item, then review lead-time demand, safety stock, reorder point, suggested order, order-by date, and expected arrival.</a:t>
            </a:r>
          </a:p>
        </p:txBody>
      </p:sp>
    </p:spTree>
    <p:extLst>
      <p:ext uri="{BB962C8B-B14F-4D97-AF65-F5344CB8AC3E}">
        <p14:creationId xmlns:p14="http://schemas.microsoft.com/office/powerpoint/2010/main" val="27463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5BC33A0-EB8F-4796-BFBF-C5B6A8426AB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DATA &amp; COVERAGE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B5A500-D421-476D-84A2-19801E66666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Import without losing the source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49000-4EAE-4C1C-B58C-8AD1FAB00437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The import flow makes new operational data useful while keeping the original Mitsubishi rows available for comparison.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718104B-EB90-4C66-98AC-AE10479DE2C1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879B0-B387-470E-9A5C-3821B142E341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MITSUBISHI ELECTRIC  ·  Sales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49D20-2545-444E-9EF2-C4F2EBBF16E5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41057D-BC39-424C-A97B-891957E0FC25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219075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A48A6-5A41-4721-80A8-6BD7F852B813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D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E821C-04E6-45AD-96B4-4008B74ED03B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6BD09-5930-4FE1-9D9B-A92A5F8FCC40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180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Preview UTF-8 CSV</a:t>
            </a:r>
          </a:p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validate aliases and values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430DD22-76DD-400D-ADCA-8C91D766EB50}"/>
              </a:ext>
            </a:extLst>
          </p:cNvPr>
          <p:cNvSpPr>
            <a:spLocks noGrp="1"/>
          </p:cNvSpPr>
          <p:nvPr/>
        </p:nvSpPr>
        <p:spPr>
          <a:xfrm>
            <a:off x="2962275" y="3009900"/>
            <a:ext cx="39052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7935D3-5ADF-4164-B116-450D204D85FB}"/>
              </a:ext>
            </a:extLst>
          </p:cNvPr>
          <p:cNvSpPr>
            <a:spLocks noGrp="1"/>
          </p:cNvSpPr>
          <p:nvPr/>
        </p:nvSpPr>
        <p:spPr>
          <a:xfrm>
            <a:off x="3486150" y="2286000"/>
            <a:ext cx="219075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907EE0-1583-404C-8FC7-432E35FBFFBC}"/>
              </a:ext>
            </a:extLst>
          </p:cNvPr>
          <p:cNvSpPr>
            <a:spLocks noGrp="1"/>
          </p:cNvSpPr>
          <p:nvPr/>
        </p:nvSpPr>
        <p:spPr>
          <a:xfrm>
            <a:off x="3676650" y="24765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B6BFF4-690B-4593-BFAB-E9844993025D}"/>
              </a:ext>
            </a:extLst>
          </p:cNvPr>
          <p:cNvSpPr>
            <a:spLocks noGrp="1"/>
          </p:cNvSpPr>
          <p:nvPr/>
        </p:nvSpPr>
        <p:spPr>
          <a:xfrm>
            <a:off x="3676650" y="28194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Reconcile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A46B02-CAF7-4078-8073-379A4AFC453C}"/>
              </a:ext>
            </a:extLst>
          </p:cNvPr>
          <p:cNvSpPr>
            <a:spLocks noGrp="1"/>
          </p:cNvSpPr>
          <p:nvPr/>
        </p:nvSpPr>
        <p:spPr>
          <a:xfrm>
            <a:off x="3676650" y="3257550"/>
            <a:ext cx="180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Append or replace active rows</a:t>
            </a:r>
          </a:p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skip exact duplicates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02F226A-841D-4E99-BE79-ED170F0C6515}"/>
              </a:ext>
            </a:extLst>
          </p:cNvPr>
          <p:cNvSpPr>
            <a:spLocks noGrp="1"/>
          </p:cNvSpPr>
          <p:nvPr/>
        </p:nvSpPr>
        <p:spPr>
          <a:xfrm>
            <a:off x="5743575" y="3009900"/>
            <a:ext cx="39052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39DDA43-0113-43C5-89E2-3D2854127E0B}"/>
              </a:ext>
            </a:extLst>
          </p:cNvPr>
          <p:cNvSpPr>
            <a:spLocks noGrp="1"/>
          </p:cNvSpPr>
          <p:nvPr/>
        </p:nvSpPr>
        <p:spPr>
          <a:xfrm>
            <a:off x="6267450" y="2286000"/>
            <a:ext cx="219075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2EEA91-BCFA-44E0-A41F-D84572DFF52F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4E8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B4BC0F-789B-41C3-863D-649322AF6305}"/>
              </a:ext>
            </a:extLst>
          </p:cNvPr>
          <p:cNvSpPr>
            <a:spLocks noGrp="1"/>
          </p:cNvSpPr>
          <p:nvPr/>
        </p:nvSpPr>
        <p:spPr>
          <a:xfrm>
            <a:off x="6457950" y="28194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402B1-394A-4031-A025-6F33432F549B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180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Apply item and vendor mappings</a:t>
            </a:r>
          </a:p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keep unmatched rows visible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DF8806C-67A7-4285-BFAA-2B6BDCBEDEAA}"/>
              </a:ext>
            </a:extLst>
          </p:cNvPr>
          <p:cNvSpPr>
            <a:spLocks noGrp="1"/>
          </p:cNvSpPr>
          <p:nvPr/>
        </p:nvSpPr>
        <p:spPr>
          <a:xfrm>
            <a:off x="8524875" y="3009900"/>
            <a:ext cx="390525" cy="0"/>
          </a:xfrm>
          <a:prstGeom prst="line">
            <a:avLst/>
          </a:prstGeom>
          <a:noFill/>
          <a:ln w="19050">
            <a:solidFill>
              <a:srgbClr val="B9303B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C02437-AC06-40B1-92B2-C136794E66C4}"/>
              </a:ext>
            </a:extLst>
          </p:cNvPr>
          <p:cNvSpPr>
            <a:spLocks noGrp="1"/>
          </p:cNvSpPr>
          <p:nvPr/>
        </p:nvSpPr>
        <p:spPr>
          <a:xfrm>
            <a:off x="9048750" y="2286000"/>
            <a:ext cx="219075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6E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A6B79A-9ECD-4F6E-AA17-17884303AADF}"/>
              </a:ext>
            </a:extLst>
          </p:cNvPr>
          <p:cNvSpPr>
            <a:spLocks noGrp="1"/>
          </p:cNvSpPr>
          <p:nvPr/>
        </p:nvSpPr>
        <p:spPr>
          <a:xfrm>
            <a:off x="9239250" y="24765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F83275-A9A7-4C8F-AC69-7484ED9D2780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DB2E86-73D7-4990-BEB0-98C41929C198}"/>
              </a:ext>
            </a:extLst>
          </p:cNvPr>
          <p:cNvSpPr>
            <a:spLocks noGrp="1"/>
          </p:cNvSpPr>
          <p:nvPr/>
        </p:nvSpPr>
        <p:spPr>
          <a:xfrm>
            <a:off x="9239250" y="3257550"/>
            <a:ext cx="180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Refresh coverage, forecast,</a:t>
            </a:r>
          </a:p>
          <a:p>
            <a:pPr algn="l">
              <a:lnSpc>
                <a:spcPct val="115000"/>
              </a:lnSpc>
              <a:buNone/>
              <a:def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classifier, and inventory views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800AA88-0173-4988-8329-AB8825A07EB1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106299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98A97F-9A02-495C-8B3A-2C3E028602B2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What the planner sees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11D944-1826-49A4-BB55-B8ADA9A35BB9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0F209F-CCBB-4BC6-8120-74B8FF69412B}"/>
              </a:ext>
            </a:extLst>
          </p:cNvPr>
          <p:cNvSpPr>
            <a:spLocks noGrp="1"/>
          </p:cNvSpPr>
          <p:nvPr/>
        </p:nvSpPr>
        <p:spPr>
          <a:xfrm>
            <a:off x="2095500" y="521970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Original source tables remain available beside the canonical planning view.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76C657-5E86-4462-8447-7BB626030643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303B"/>
                </a:solidFill>
                <a:latin typeface="Helvetica Neue"/>
                <a:ea typeface="Helvetica Neue"/>
                <a:cs typeface="Helvetica Neue"/>
              </a:rPr>
              <a:t>Quality flags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25F437-CD48-4E37-9EA7-83D753BF80A2}"/>
              </a:ext>
            </a:extLst>
          </p:cNvPr>
          <p:cNvSpPr>
            <a:spLocks noGrp="1"/>
          </p:cNvSpPr>
          <p:nvPr/>
        </p:nvSpPr>
        <p:spPr>
          <a:xfrm>
            <a:off x="7524750" y="521970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  <a:buNone/>
              <a:def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6848B"/>
                </a:solidFill>
                <a:latin typeface="Helvetica Neue"/>
                <a:ea typeface="Helvetica Neue"/>
                <a:cs typeface="Helvetica Neue"/>
              </a:rPr>
              <a:t>Duplicates, missing prices, unmatched mappings, and incomplete inventory inputs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34072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0" y="441764"/>
            <a:ext cx="3048000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1622A8-A864-492B-9DEB-8597F6BF862A}"/>
              </a:ext>
            </a:extLst>
          </p:cNvPr>
          <p:cNvSpPr>
            <a:spLocks noGrp="1"/>
          </p:cNvSpPr>
          <p:nvPr/>
        </p:nvSpPr>
        <p:spPr>
          <a:xfrm>
            <a:off x="4476750" y="34861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lnSpc>
                <a:spcPct val="115000"/>
              </a:lnSpc>
              <a:buNone/>
              <a:defRPr sz="1275" b="0" i="1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Changes for the Better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5F91ED3-C1BA-4AE6-848B-2A59C3471AD4}"/>
              </a:ext>
            </a:extLst>
          </p:cNvPr>
          <p:cNvSpPr>
            <a:spLocks noGrp="1"/>
          </p:cNvSpPr>
          <p:nvPr/>
        </p:nvSpPr>
        <p:spPr>
          <a:xfrm>
            <a:off x="3429000" y="4000500"/>
            <a:ext cx="5334000" cy="0"/>
          </a:xfrm>
          <a:prstGeom prst="line">
            <a:avLst/>
          </a:prstGeom>
          <a:noFill/>
          <a:ln w="9525">
            <a:solidFill>
              <a:srgbClr val="E1E6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1D969-03A9-45B5-B04F-6C17D33AABC6}"/>
              </a:ext>
            </a:extLst>
          </p:cNvPr>
          <p:cNvSpPr>
            <a:spLocks noGrp="1"/>
          </p:cNvSpPr>
          <p:nvPr/>
        </p:nvSpPr>
        <p:spPr>
          <a:xfrm>
            <a:off x="1551918" y="4489890"/>
            <a:ext cx="9088164" cy="7810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ct val="100000"/>
              </a:lnSpc>
              <a:buNone/>
              <a:defRPr sz="2775" b="1" i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 dirty="0">
                <a:solidFill>
                  <a:srgbClr val="202529"/>
                </a:solidFill>
                <a:latin typeface="Helvetica Neue"/>
                <a:ea typeface="Helvetica Neue"/>
                <a:cs typeface="Helvetica Neue"/>
              </a:rPr>
              <a:t>Sales intelligence turns source data into a decision the team can explain.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E8BD6-39EE-4224-802E-F50B3FF97E3A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>
              <a:lnSpc>
                <a:spcPct val="115000"/>
              </a:lnSpc>
              <a:buNone/>
              <a:def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9BA5A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0783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Macintosh PowerPoint</Application>
  <DocSecurity>0</DocSecurity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aetherxf@gmail.com</cp:lastModifiedBy>
  <cp:revision>1</cp:revision>
  <dcterms:created xsi:type="dcterms:W3CDTF">2026-09-21T09:08:55Z</dcterms:created>
  <dcterms:modified xsi:type="dcterms:W3CDTF">2026-09-21T09:47:26Z</dcterms:modified>
</cp:coreProperties>
</file>